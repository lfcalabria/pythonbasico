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6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  <p:sldMasterId id="2147483708" r:id="rId3"/>
    <p:sldMasterId id="2147483717" r:id="rId4"/>
    <p:sldMasterId id="2147483752" r:id="rId5"/>
    <p:sldMasterId id="2147483764" r:id="rId6"/>
    <p:sldMasterId id="2147483775" r:id="rId7"/>
    <p:sldMasterId id="2147483786" r:id="rId8"/>
  </p:sldMasterIdLst>
  <p:notesMasterIdLst>
    <p:notesMasterId r:id="rId28"/>
  </p:notesMasterIdLst>
  <p:handoutMasterIdLst>
    <p:handoutMasterId r:id="rId29"/>
  </p:handoutMasterIdLst>
  <p:sldIdLst>
    <p:sldId id="256" r:id="rId9"/>
    <p:sldId id="439" r:id="rId10"/>
    <p:sldId id="2468" r:id="rId11"/>
    <p:sldId id="2469" r:id="rId12"/>
    <p:sldId id="2471" r:id="rId13"/>
    <p:sldId id="2473" r:id="rId14"/>
    <p:sldId id="2474" r:id="rId15"/>
    <p:sldId id="2475" r:id="rId16"/>
    <p:sldId id="2480" r:id="rId17"/>
    <p:sldId id="2479" r:id="rId18"/>
    <p:sldId id="2482" r:id="rId19"/>
    <p:sldId id="2483" r:id="rId20"/>
    <p:sldId id="2481" r:id="rId21"/>
    <p:sldId id="2484" r:id="rId22"/>
    <p:sldId id="2485" r:id="rId23"/>
    <p:sldId id="2486" r:id="rId24"/>
    <p:sldId id="2476" r:id="rId25"/>
    <p:sldId id="2477" r:id="rId26"/>
    <p:sldId id="2478" r:id="rId27"/>
  </p:sldIdLst>
  <p:sldSz cx="9144000" cy="5143500" type="screen16x9"/>
  <p:notesSz cx="10234613" cy="7104063"/>
  <p:embeddedFontLs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239D9-396E-4441-9BEE-FCEAB26FEBA3}" v="343" dt="2025-01-14T19:45:44.295"/>
  </p1510:revLst>
</p1510:revInfo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5" autoAdjust="0"/>
    <p:restoredTop sz="94561" autoAdjust="0"/>
  </p:normalViewPr>
  <p:slideViewPr>
    <p:cSldViewPr>
      <p:cViewPr varScale="1">
        <p:scale>
          <a:sx n="49" d="100"/>
          <a:sy n="49" d="100"/>
        </p:scale>
        <p:origin x="1207" y="26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microsoft.com/office/2015/10/relationships/revisionInfo" Target="revisionInfo.xml"/><Relationship Id="rId21" Type="http://schemas.openxmlformats.org/officeDocument/2006/relationships/slide" Target="slides/slide13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0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710" y="0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6748145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710" y="6748145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f391192_00:notes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</p:spPr>
        <p:txBody>
          <a:bodyPr spcFirstLastPara="1" wrap="square" lIns="94765" tIns="94765" rIns="94765" bIns="9476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5153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03D10-921C-77B0-9FBE-63308757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FC619B-A1D4-3227-F609-7C0DA152E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968EF4-260D-E7AC-6C88-8BFDED525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3557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C094-F320-9D55-13DE-7AD25891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DF65C5-A55B-30B9-F922-A6FFBC5FC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5AE995-D6CB-6420-CD5D-367BAD53D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futuro não distante, neste curso veremos um embrião de </a:t>
            </a:r>
            <a:r>
              <a:rPr lang="pt-BR" dirty="0" err="1"/>
              <a:t>AutoML</a:t>
            </a:r>
            <a:r>
              <a:rPr lang="pt-BR" dirty="0"/>
              <a:t>, a IBM prevê que até 2030 estará colocando no mercado computadores quânticos</a:t>
            </a:r>
          </a:p>
        </p:txBody>
      </p:sp>
    </p:spTree>
    <p:extLst>
      <p:ext uri="{BB962C8B-B14F-4D97-AF65-F5344CB8AC3E}">
        <p14:creationId xmlns:p14="http://schemas.microsoft.com/office/powerpoint/2010/main" val="907423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4A4F2-1CBB-008D-6CFE-0BBE781E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5FC2E3-EBCB-014B-652A-D1B000D9A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4AB529-066D-9DAB-B098-3000AE4DA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8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  <a:tabLst/>
              <a:defRPr/>
            </a:pPr>
            <a:r>
              <a:rPr lang="pt-BR" altLang="pt-BR" sz="1100">
                <a:latin typeface="Verdana" panose="020B0604030504040204" pitchFamily="34" charset="0"/>
                <a:ea typeface="Arial Unicode MS" pitchFamily="34" charset="-128"/>
              </a:rPr>
              <a:t>A ciência de dados fornece insights precisos e acionáveis que permitem uma tomada de decisão mais informada e baseada em evidências. Isso pode levar a políticas públicas mais eficazes e decisões empresariais mais estratégicas.</a:t>
            </a:r>
          </a:p>
          <a:p>
            <a:pPr marL="368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  <a:tabLst/>
              <a:defRPr/>
            </a:pPr>
            <a:r>
              <a:rPr lang="pt-BR" altLang="pt-BR" sz="1100">
                <a:latin typeface="Verdana" panose="020B0604030504040204" pitchFamily="34" charset="0"/>
                <a:ea typeface="Arial Unicode MS" pitchFamily="34" charset="-128"/>
              </a:rPr>
              <a:t>As empresas que utilizam a ciência de dados podem obter uma vantagem competitiva significativa ao entender melhor seus mercados e clientes, otimizando operações e inovando mais rapidamente que seus concorrentes.</a:t>
            </a:r>
          </a:p>
          <a:p>
            <a:pPr marL="368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  <a:tabLst/>
              <a:defRPr/>
            </a:pPr>
            <a:r>
              <a:rPr lang="pt-BR" altLang="pt-BR" sz="1100">
                <a:latin typeface="Verdana" panose="020B0604030504040204" pitchFamily="34" charset="0"/>
                <a:ea typeface="Arial Unicode MS" pitchFamily="34" charset="-128"/>
              </a:rPr>
              <a:t>A análise de grandes volumes de dados permite prever tendências de mercado, mudanças no comportamento do consumidor e novas oportunidades de negócio, permitindo que organizações se antecipem a essas mudanças.</a:t>
            </a:r>
          </a:p>
          <a:p>
            <a:pPr marL="368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  <a:tabLst/>
              <a:defRPr/>
            </a:pPr>
            <a:r>
              <a:rPr lang="pt-BR" altLang="pt-BR" sz="1100">
                <a:latin typeface="Verdana" panose="020B0604030504040204" pitchFamily="34" charset="0"/>
                <a:ea typeface="Arial Unicode MS" pitchFamily="34" charset="-128"/>
              </a:rPr>
              <a:t>Instituições financeiras usam a ciência de dados para identificar e mitigar riscos, detectar fraudes e tomar decisões de investimento mais informadas</a:t>
            </a:r>
          </a:p>
          <a:p>
            <a:pPr marL="368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  <a:tabLst/>
              <a:defRPr/>
            </a:pPr>
            <a:endParaRPr lang="pt-BR" altLang="pt-BR" sz="1100">
              <a:latin typeface="Verdana" panose="020B0604030504040204" pitchFamily="34" charset="0"/>
              <a:ea typeface="Arial Unicode MS" pitchFamily="34" charset="-128"/>
            </a:endParaRPr>
          </a:p>
          <a:p>
            <a:pPr marL="368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  <a:tabLst/>
              <a:defRPr/>
            </a:pPr>
            <a:endParaRPr lang="pt-BR" altLang="pt-BR" sz="1100">
              <a:latin typeface="Verdana" panose="020B0604030504040204" pitchFamily="34" charset="0"/>
              <a:ea typeface="Arial Unicode MS" pitchFamily="34" charset="-128"/>
            </a:endParaRPr>
          </a:p>
          <a:p>
            <a:pPr marL="368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  <a:tabLst/>
              <a:defRPr/>
            </a:pPr>
            <a:endParaRPr lang="pt-BR" altLang="pt-BR" sz="1100">
              <a:latin typeface="Verdana" panose="020B0604030504040204" pitchFamily="34" charset="0"/>
              <a:ea typeface="Arial Unicode MS" pitchFamily="34" charset="-128"/>
            </a:endParaRPr>
          </a:p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364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3235-3B9B-11C8-B812-2F949853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91E060B-71D0-920A-BEB2-A44FF1FD1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F76625-5741-4793-3D35-11AFED55A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468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CCAF8-B097-3231-FA07-00110B4F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C687D2-66F9-E537-F597-3CE2CBD2A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DBB2ED-76CD-1AB3-F470-49E1D3FC5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0071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D1A1-D67B-9A3A-A134-F5A8CE64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E03EEE2-100E-EC8A-FD9B-9BFC060CF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18F321E-07CA-68D4-AA6C-CCA6DD346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2426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0AF9-531D-146B-9DD9-6BE7B6685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11F0D5-DFA1-4DF9-3B25-FC367CE9D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2D1A2C0-C74D-8928-3A55-031F0E36E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6434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4C54-1248-8422-116B-121C4BE3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BB46B61-92E3-7221-FAB6-89F26510B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8920F3-1F72-4E2B-7999-F34F7AAC1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7634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93755-A5EE-2913-4E97-D51BD699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BF5FAD-ACD0-1700-4B6D-E2972E566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D618409-1AED-49B1-98BD-B0CC61CEE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4271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BFD7-F94F-D637-7969-CC69EA56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FC6F703-67B6-6F57-127F-D5E3F64BB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7C6136-59A1-E92C-3D2E-DACEC7FD4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4662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29DE-E6A0-4A68-44A2-5090AE46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6C9EA38-C044-5B8D-BAE8-5A428AF6B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D2E50F-C402-FFB6-F138-E8983BD91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877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A4E6-9375-CD90-BF62-CC4945CAE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B0BCF0-2F91-02B4-5305-455BEFE8F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E4078B-9EF9-D866-F5B4-9A5A57D6F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8692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F999-EA78-281B-F2D1-1F7FBF09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B549CD-2AD5-532B-BA71-95F13EAA8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713866-59B8-E2B7-3BE3-9053AC08A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565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8F93-2046-AB21-74D2-B4EF3136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A030F91-A603-EEE8-C685-8A4B2F6F1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7C983A4-142C-6EA7-0959-7C69D7E3F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1962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B8CE-4700-6596-91A6-4CD23B95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E5480A-7A61-2309-78D8-D2AE95971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94CD74-FA87-519E-52A7-E74783486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9785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BB04-D517-7970-5BFC-11E79E6E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61F6B2-CFD6-CBFF-6C2E-AB939BF25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E5B66C-528A-20D8-A76E-9818CDA84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0737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1388D-78B7-CBC0-4E45-DCE036BC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41D58B-F55A-A829-0F03-5716079F5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B2BB29-BD53-8A55-A3C4-22EAD7CD5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9475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88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414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52276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05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425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29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098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7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76767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39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95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836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348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44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90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440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87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95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184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75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9790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375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100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846619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777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6172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3187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715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015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943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57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246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54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5803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818034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1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71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9807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104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166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7528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3915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458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330572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886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0337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779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586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3246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292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64416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10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5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6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78" r:id="rId6"/>
    <p:sldLayoutId id="214748367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6" r:id="rId8"/>
    <p:sldLayoutId id="214748370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7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6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871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1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9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5" y="4889677"/>
            <a:ext cx="11031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4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1" y="58421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4" r:id="rId8"/>
    <p:sldLayoutId id="21474837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02B1E5-D423-487D-A55F-B7BB2F3597D2}"/>
              </a:ext>
            </a:extLst>
          </p:cNvPr>
          <p:cNvSpPr/>
          <p:nvPr/>
        </p:nvSpPr>
        <p:spPr>
          <a:xfrm>
            <a:off x="530258" y="3376747"/>
            <a:ext cx="8074057" cy="9054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cap="none" spc="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Ciência</a:t>
            </a:r>
            <a:r>
              <a:rPr lang="en-US" sz="5600" b="1" kern="1200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 de Dados</a:t>
            </a:r>
          </a:p>
        </p:txBody>
      </p:sp>
      <p:pic>
        <p:nvPicPr>
          <p:cNvPr id="20" name="Imagem 19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DF68962B-33C0-4F9F-ADD2-F8988580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8" y="554058"/>
            <a:ext cx="7443991" cy="17121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D569AE-4467-415A-ABC5-E1D9460B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36" y="4588039"/>
            <a:ext cx="1390822" cy="394791"/>
          </a:xfrm>
          <a:prstGeom prst="rect">
            <a:avLst/>
          </a:prstGeom>
        </p:spPr>
      </p:pic>
      <p:sp>
        <p:nvSpPr>
          <p:cNvPr id="19" name="Retângulo 2">
            <a:extLst>
              <a:ext uri="{FF2B5EF4-FFF2-40B4-BE49-F238E27FC236}">
                <a16:creationId xmlns:a16="http://schemas.microsoft.com/office/drawing/2014/main" id="{F479B6A1-F4E7-45AA-A3C1-D4BB3705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503" y="2725432"/>
            <a:ext cx="4436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b="1" i="1" dirty="0"/>
              <a:t>Prof. Luiz Fernando Calábria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9DC41E76-F132-49E0-A732-450BC2947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25" y="157360"/>
            <a:ext cx="765261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O que é Ciência de Dados?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C2ADF1EC-C089-4787-A14A-DE7BF34E6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2"/>
            <a:ext cx="8209885" cy="376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A ciência de dados é uma área multidisciplinar que envolve a coleta, tratamento, análise e interpretação de dados para extrair insights e tomar decisões mais estratégicas.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É uma combinação poderosa de estatística, programação, matemática, conhecimento de negócio e habilidades de comunicação para transformar dados brutos em informações valiosas.</a:t>
            </a:r>
          </a:p>
          <a:p>
            <a:pPr algn="just"/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algn="just"/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D7669B-95D5-4BE6-979A-70C13999C8CE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55FBE1-969E-3731-141E-6772E72C4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52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6B78-161D-6254-3B91-DD56D318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AF517761-2D0C-CF64-829C-744FED86C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1470"/>
            <a:ext cx="770534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O que é Ciência de Dados?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F1C9E57D-40B3-DB13-FC4A-F3CCEC873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2"/>
            <a:ext cx="8209885" cy="376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Utilizando técnicas avançadas de análise, os cientistas de dados  identificam padrões, descobrem tendências e geram previsões, permitindo que organizações compreendam melhor seus clientes, otimizem seus processos e explorem novas oportunidades de negócios.</a:t>
            </a:r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algn="just"/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E4D1E79-E2F7-753D-4A79-4F4CC039E76A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5D5ACF-F57F-E2AE-CE2E-A255A0D509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89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A2AAF-2CE0-B422-6C51-4C3E2A36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C64F2787-FC63-C39E-2D82-9306703AC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1470"/>
            <a:ext cx="770534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A Evolução da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2F48CA83-E886-9F98-861C-DDA6D3D33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2"/>
            <a:ext cx="8209885" cy="376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Passado: Análises estatísticas tradicionais.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Presente: Uso de Big Data, Machine Learning e Inteligência Artificial.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Futuro: Computação quântica, IA explicativa e automação de análises (</a:t>
            </a:r>
            <a:r>
              <a:rPr lang="pt-BR" altLang="pt-BR" sz="2200" dirty="0" err="1">
                <a:latin typeface="Verdana" panose="020B0604030504040204" pitchFamily="34" charset="0"/>
                <a:ea typeface="Arial Unicode MS" pitchFamily="34" charset="-128"/>
              </a:rPr>
              <a:t>AutoML</a:t>
            </a: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).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FA032C5-6287-3AA2-5283-5A85AA93B14B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D6EDD3-823E-A8D3-24B1-53757ACE3A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8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3E59-D2D4-0472-2D19-8CDCE269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4E031413-691F-B87A-377E-8AF539E62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1470"/>
            <a:ext cx="770534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Importância da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DAD5B3F0-2631-A243-03B3-DCBB6AB5F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2"/>
            <a:ext cx="8209885" cy="376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b="1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Impactos Estratégicos: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Tomada de Decisão Baseada em Dados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Vantagem Competitiva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Previsão de Tendências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Gerenciamento de Riscos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Personalização e Experiência do Cliente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Eficiência Operacional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Inovação e Desenvolvimento de Produtos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8BD12E5-4976-F84B-814E-405F72C6EE3E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57809D-FA5E-A1E0-7EF1-4C367A73B7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645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27AD-DA94-8399-C8F5-AD213EC0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E0C8B1E7-678C-E12B-1827-3B68F64C5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1470"/>
            <a:ext cx="770534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Importância da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12CE1170-FB1C-F946-6CD9-399EA18C8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2"/>
            <a:ext cx="8209885" cy="3767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Exemplos Práticos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Empresas utilizam dados para otimizar rotas de entrega, reduzindo custos e melhorando a eficiência.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A análise de dados é utilizada para monitorar surtos de doenças e planejar intervenções de saúde pública.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5F37936-23E0-E89B-9018-0C6D3AB627CA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25AC38-C539-C60F-4479-D3BD895079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28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3957F-3C04-B7D0-D9C8-410405F87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0792B2E6-23B6-D59F-CA0A-4F7F3E589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1470"/>
            <a:ext cx="770534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Importância da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955DA657-D48B-14D9-27DC-11D1B1D50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Impactos sociais: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Saúde: A análise de grandes volumes de dados médicos ajuda na detecção precoce de doenças, desenvolvimento de tratamentos personalizados e melhoria dos cuidados de saúde.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11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Educação: Plataformas de ensino online utilizam a ciência de dados para adaptar o conteúdo às necessidades dos alunos, melhorando a aprendizagem e tornando a educação mais acessível.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5473A1A-DDBC-0936-D19C-E5856E3AB6CB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E1C678-54CD-18CA-FB04-20339CBC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74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49F8-2434-D25A-D1E7-A5E202F10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D6530723-CF15-47CC-CF47-74E4344A1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1470"/>
            <a:ext cx="770534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Importância da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37E07107-00D8-4AE6-F866-CFB59E6A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Impactos sociais: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Segurança Pública: A análise de dados pode ajudar a prever e prevenir crimes, além de melhorar a resposta a desastres naturais e emergências.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11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Desigualdade Social: A ciência de dados pode identificar e abordar disparidades socioeconômicas, ajudando a implementar políticas públicas mais eficazes.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9B97D2-2358-11EF-BC58-F8B7683CD99B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2B76A5-266E-EFC3-A0A0-2FA1EAA205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27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139A5-CF77-C095-C213-8A67E0CA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56D51510-38DF-FF2F-2B8A-7EC6E3F09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1470"/>
            <a:ext cx="770534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Importância da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968EE63C-7B7F-AA84-F09C-9EFA618E1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Impactos sociais: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Esporte: Análise do desempenho de atletas e equipes, contribuindo para estratégias de jogo e treinamentos.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AE217B2-C7C6-9D19-5693-628C4B813C28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742DD1-67EA-1DB8-FE07-FCD98A7DA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41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FC288-C038-8B79-AFC3-A39883C3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667D2F08-0FE6-298C-DBC7-C38E7750F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5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Habilidades e Competências Necessárias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7AFACA93-0849-5725-DC8B-118187AC5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algn="ctr"/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Técnicas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Estatística e Matemática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Álgebra linear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Cálculo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Estatísticas Descritivas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Inferência Estatística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Modelagem Estatística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Probabilidade: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8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lvl="1" indent="0" algn="just"/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448507F-DB64-8921-6320-5623E87003ED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F1DA26-3272-4A17-9315-BDBD7110DC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67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B5F7-83DB-7B3A-5CB1-9FE63F43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50D85B2F-C2F5-BFB1-E231-E85EEE37C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5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Habilidades e Competências Necessárias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6FADB56A-2358-2FE7-6F10-CBCE08FF6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34" y="820272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algn="ctr"/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Técnicas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Programação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Linguagens como Python ou R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Linguagem SQL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Conhecimento de Plataformas e Bibliotecas como Anaconda, </a:t>
            </a:r>
            <a:r>
              <a:rPr lang="pt-BR" altLang="pt-BR" sz="2100" dirty="0" err="1">
                <a:latin typeface="Verdana" panose="020B0604030504040204" pitchFamily="34" charset="0"/>
                <a:ea typeface="Arial Unicode MS" pitchFamily="34" charset="-128"/>
              </a:rPr>
              <a:t>VSCode</a:t>
            </a:r>
            <a:endParaRPr lang="pt-BR" altLang="pt-BR" sz="21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Inferência Estatística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Manipulação e Limpeza de Dados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Ferramentas de ETL como Apache Hope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Bibliotecas como </a:t>
            </a:r>
            <a:r>
              <a:rPr lang="pt-BR" sz="2100" dirty="0"/>
              <a:t>pandas, </a:t>
            </a:r>
            <a:r>
              <a:rPr lang="pt-BR" sz="2100" dirty="0" err="1"/>
              <a:t>NumPy</a:t>
            </a:r>
            <a:r>
              <a:rPr lang="pt-BR" sz="2100" dirty="0"/>
              <a:t> e </a:t>
            </a:r>
            <a:r>
              <a:rPr lang="pt-BR" sz="2100" dirty="0" err="1"/>
              <a:t>SciPy</a:t>
            </a:r>
            <a:endParaRPr lang="pt-BR" sz="2100" dirty="0"/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100" dirty="0">
                <a:latin typeface="Verdana" panose="020B0604030504040204" pitchFamily="34" charset="0"/>
                <a:ea typeface="Arial Unicode MS" pitchFamily="34" charset="-128"/>
              </a:rPr>
              <a:t>Conhecimento de bancos de dados relacionais e não relacionais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8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lvl="1" indent="0" algn="just"/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A1CA67-A34C-EA0F-785F-3E7F65319930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DA31B6-B5D9-866D-805A-999CE13F6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32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B0913-FE70-EC7E-4E9F-D979AF37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30C541D8-9EB3-19AF-D9BE-12AEF5880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5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Habilidades e Competências Necessárias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B1806E26-16F5-97D1-5EB7-AB3D3481D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algn="ctr"/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Técnicas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Machine Learning e </a:t>
            </a:r>
            <a:r>
              <a:rPr lang="pt-BR" altLang="pt-BR" sz="2200" dirty="0" err="1">
                <a:latin typeface="Verdana" panose="020B0604030504040204" pitchFamily="34" charset="0"/>
                <a:ea typeface="Arial Unicode MS" pitchFamily="34" charset="-128"/>
              </a:rPr>
              <a:t>Deep</a:t>
            </a: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 Learning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Algoritmos de aprendizado supervisionado e não supervisionado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Redes neurais e aprendizado profundo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Ferramentas como </a:t>
            </a:r>
            <a:r>
              <a:rPr lang="pt-BR" altLang="pt-BR" sz="2200" dirty="0" err="1">
                <a:latin typeface="Verdana" panose="020B0604030504040204" pitchFamily="34" charset="0"/>
                <a:ea typeface="Arial Unicode MS" pitchFamily="34" charset="-128"/>
              </a:rPr>
              <a:t>StatsModels</a:t>
            </a: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, </a:t>
            </a:r>
            <a:r>
              <a:rPr lang="pt-BR" sz="2400" dirty="0" err="1"/>
              <a:t>Scikit-Learn</a:t>
            </a:r>
            <a:r>
              <a:rPr lang="pt-BR" sz="2400" dirty="0"/>
              <a:t>, </a:t>
            </a:r>
            <a:r>
              <a:rPr lang="pt-BR" sz="2400" dirty="0" err="1"/>
              <a:t>TensorFlow</a:t>
            </a:r>
            <a:r>
              <a:rPr lang="pt-BR" sz="2400" dirty="0"/>
              <a:t>, </a:t>
            </a:r>
            <a:r>
              <a:rPr lang="pt-BR" sz="2400" dirty="0" err="1"/>
              <a:t>PyTorch</a:t>
            </a:r>
            <a:r>
              <a:rPr lang="pt-BR" sz="2400" dirty="0"/>
              <a:t> e </a:t>
            </a:r>
            <a:r>
              <a:rPr lang="pt-BR" sz="2400" dirty="0" err="1"/>
              <a:t>PyCaret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Big Data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Ferramentas e tecnologias como </a:t>
            </a:r>
            <a:r>
              <a:rPr lang="pt-BR" altLang="pt-BR" sz="2200" dirty="0" err="1">
                <a:latin typeface="Verdana" panose="020B0604030504040204" pitchFamily="34" charset="0"/>
                <a:ea typeface="Arial Unicode MS" pitchFamily="34" charset="-128"/>
              </a:rPr>
              <a:t>Hadoop</a:t>
            </a: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, Spark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Processamento de dados em grande escala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B10978E-3FFD-1AD8-1145-7758102587E2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05C1D8-8D93-F9F6-A366-C9B3E2AFF8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95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DB00E-F6C2-2ADD-F2A2-3DA9DA954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C7D872C7-589A-BC26-8D03-67E746162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5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Habilidades e Competências Necessárias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08ECD241-DA75-91A9-1E34-088ECF84B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algn="ctr"/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Técnicas</a:t>
            </a:r>
          </a:p>
          <a:p>
            <a:pPr marL="285750" algn="ctr"/>
            <a:endParaRPr lang="pt-BR" altLang="pt-BR" sz="2200" b="1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Visualização de Dados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Criar visualizações eficazes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Ferramentas como Tableau, Power BI, </a:t>
            </a:r>
            <a:r>
              <a:rPr lang="pt-BR" altLang="pt-BR" sz="2200" dirty="0" err="1">
                <a:latin typeface="Verdana" panose="020B0604030504040204" pitchFamily="34" charset="0"/>
                <a:ea typeface="Arial Unicode MS" pitchFamily="34" charset="-128"/>
              </a:rPr>
              <a:t>Matplotlib</a:t>
            </a: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, </a:t>
            </a:r>
            <a:r>
              <a:rPr lang="pt-BR" altLang="pt-BR" sz="2200" dirty="0" err="1">
                <a:latin typeface="Verdana" panose="020B0604030504040204" pitchFamily="34" charset="0"/>
                <a:ea typeface="Arial Unicode MS" pitchFamily="34" charset="-128"/>
              </a:rPr>
              <a:t>Seaborn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lvl="1" indent="0" algn="just"/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96CCEAA-4B33-F0C9-0182-E1891500229C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BBE9E1-81FE-86BA-BE94-10279844FB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97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1CF7E-B72A-561A-BEE2-CB7812B9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43BEA18B-E37D-56DB-9E5C-9BEDEB68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5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Habilidades e Competências Necessárias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6ADC77D5-C44A-5FE1-07A4-EB9B6165E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algn="ctr"/>
            <a:r>
              <a:rPr lang="pt-BR" altLang="pt-BR" sz="2200" b="1" dirty="0">
                <a:latin typeface="Verdana" panose="020B0604030504040204" pitchFamily="34" charset="0"/>
                <a:ea typeface="Arial Unicode MS" pitchFamily="34" charset="-128"/>
              </a:rPr>
              <a:t>Analíticas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Resolução de Problemas/Oportunidades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Identificar, formular hipóteses e agir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Pensamento Crítico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Analisar dados de forma crítica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T</a:t>
            </a:r>
            <a:r>
              <a:rPr lang="pt-BR" sz="2400" dirty="0"/>
              <a:t>omar decisões baseadas em evidências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0C6FDE-810F-C3BA-4F22-4827B576769A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E87E7A-8F9E-C94B-7DF9-DCF72E4E92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38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BB8C-7958-203C-83D8-18456985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0521D061-EA08-9593-DEF5-E57D1A66B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5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Habilidades e Competências Necessárias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279AFBE-EA26-1468-D8E1-05A1524A4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algn="ctr"/>
            <a:r>
              <a:rPr lang="pt-BR" sz="2400" b="1" dirty="0">
                <a:latin typeface="Verdana" panose="020B0604030504040204" pitchFamily="34" charset="0"/>
                <a:ea typeface="Verdana" panose="020B0604030504040204" pitchFamily="34" charset="0"/>
              </a:rPr>
              <a:t>Conhecimento de Negócios</a:t>
            </a:r>
            <a:endParaRPr lang="pt-BR" altLang="pt-BR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Domínio do Contexto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Entender o setor e o negócio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Gerenciamento de Projetos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Analisar dados de forma crítica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sz="2200" dirty="0">
                <a:latin typeface="Verdana" panose="020B0604030504040204" pitchFamily="34" charset="0"/>
                <a:ea typeface="Arial Unicode MS" pitchFamily="34" charset="-128"/>
              </a:rPr>
              <a:t>P</a:t>
            </a:r>
            <a:r>
              <a:rPr lang="pt-BR" sz="2400" dirty="0"/>
              <a:t>lanejar, executar e gerenciar projetos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87D5FE4-AA17-D316-5DF3-A2191D794006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6708AE-9DF4-7D01-2022-BB21173D26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60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1932-B93B-6E7F-75E9-39848F54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950FC635-0E68-94CD-D920-F3193084F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500" b="1" i="1" dirty="0">
                <a:solidFill>
                  <a:srgbClr val="0033CC"/>
                </a:solidFill>
                <a:latin typeface="Verdana" panose="020B0604030504040204" pitchFamily="34" charset="0"/>
              </a:rPr>
              <a:t>Habilidades e Competências Necessárias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A293A2FD-4DE3-FD29-7BA8-A58DDA07C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algn="ctr"/>
            <a:r>
              <a:rPr lang="pt-BR" sz="2400" b="1" dirty="0">
                <a:latin typeface="Verdana" panose="020B0604030504040204" pitchFamily="34" charset="0"/>
                <a:ea typeface="Verdana" panose="020B0604030504040204" pitchFamily="34" charset="0"/>
              </a:rPr>
              <a:t>Pessoais</a:t>
            </a:r>
            <a:endParaRPr lang="pt-BR" altLang="pt-BR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Trabalho em Equipe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Comunicar-se com outros cientistas de dados, engenheiros e demais técnicos envolvidos</a:t>
            </a:r>
          </a:p>
          <a:p>
            <a:pPr marL="108585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Comunicar-se com a alta gestão da empresa e demais  gestores interessados.</a:t>
            </a: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Curiosidade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Adaptabilidade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991075-F0AD-4453-31FB-566F77B75699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E94FF2-E7BC-7338-8D5E-23FC54AF82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93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3E46E-6034-ED37-C05A-F07FAE77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A6A4FD92-B35C-C802-2053-3A2DA2D59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Novas Carreiras em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89BA8001-CB77-21A3-A389-199F29DF0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Cientista de Dados</a:t>
            </a: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Responsável por coletar, analisar, interpretar e apresentar grandes volumes de dados para ajudar nas tomadas de decisão.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Engenheiro de Dados</a:t>
            </a: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Foca na construção e manutenção de sistemas que permitem o processamento e análise de grandes volumes de dados.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422FE8-8316-6B43-CA6C-26EEAF66E3EE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EC8F43-61D0-755B-8A20-679F5167B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43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948E7-C05B-CB5F-8C05-F1958B87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273B22DE-EF92-AE38-012D-61E6FEE61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Novas Carreiras em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CB7326E-F695-20EE-D944-888410033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Analista de Dados</a:t>
            </a: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Responsável por coletar, analisar, interpretar e apresentar grandes volumes de dados para ajudar nas tomadas de decisão.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1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lvl="1" indent="0" algn="just"/>
            <a:endParaRPr lang="pt-BR" altLang="pt-BR" sz="1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Engenheiro de Machine Learning</a:t>
            </a: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Desenvolve e implementa modelos de machine learning para resolver problemas específicos.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5A4827F-F24E-DA3A-F1F1-78568639B50B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069A17-546D-D1B6-95FD-79E984F65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09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062D4-89F4-8D0A-2597-A5BABA90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12938929-6DD2-E10A-239A-6FBE9A200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1470"/>
            <a:ext cx="763333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Novas Carreiras em Ciência de Dados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40CA65CE-FAC5-366D-6F68-877DE4621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57" y="820271"/>
            <a:ext cx="8209885" cy="392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Engenheiro de IA</a:t>
            </a: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Foca na criação de sistemas inteligentes capazes de realizar tarefas que normalmente requerem inteligência humana.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8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Especialista em Dados e Privacidade</a:t>
            </a: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Garante que a coleta e utilização dos dados estejam em conformidade com regulamentações de privacidade.</a:t>
            </a:r>
          </a:p>
          <a:p>
            <a:pPr lvl="1" indent="0" algn="just"/>
            <a:endParaRPr lang="pt-BR" altLang="pt-BR" sz="800" dirty="0">
              <a:latin typeface="Verdana" panose="020B0604030504040204" pitchFamily="34" charset="0"/>
              <a:ea typeface="Arial Unicode MS" pitchFamily="34" charset="-128"/>
            </a:endParaRPr>
          </a:p>
          <a:p>
            <a:pPr marL="628650" indent="-342900" algn="just"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Engenheiro de Dados na Nuvem</a:t>
            </a:r>
          </a:p>
          <a:p>
            <a:pPr lvl="1" indent="0" algn="just"/>
            <a:r>
              <a:rPr lang="pt-BR" altLang="pt-BR" sz="2200" dirty="0">
                <a:latin typeface="Verdana" panose="020B0604030504040204" pitchFamily="34" charset="0"/>
                <a:ea typeface="Arial Unicode MS" pitchFamily="34" charset="-128"/>
              </a:rPr>
              <a:t>Constrói e gerencia infraestrutura de dados na nuvem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pt-BR" altLang="pt-BR" sz="22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2C77377-4B46-4623-A308-01E7FEAF39B3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DA671C-D8AB-93B7-09DB-7E49519A2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26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11104</TotalTime>
  <Words>928</Words>
  <Application>Microsoft Office PowerPoint</Application>
  <PresentationFormat>Apresentação na tela (16:9)</PresentationFormat>
  <Paragraphs>166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19</vt:i4>
      </vt:variant>
    </vt:vector>
  </HeadingPairs>
  <TitlesOfParts>
    <vt:vector size="30" baseType="lpstr">
      <vt:lpstr>Calibri</vt:lpstr>
      <vt:lpstr>Arial</vt:lpstr>
      <vt:lpstr>Verdana</vt:lpstr>
      <vt:lpstr>Personalizar design</vt:lpstr>
      <vt:lpstr>1_Personalizar design</vt:lpstr>
      <vt:lpstr>2_Personalizar design</vt:lpstr>
      <vt:lpstr>3_Personalizar design</vt:lpstr>
      <vt:lpstr>4_Personalizar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11</cp:revision>
  <cp:lastPrinted>2023-04-24T16:47:04Z</cp:lastPrinted>
  <dcterms:created xsi:type="dcterms:W3CDTF">2020-01-19T22:21:58Z</dcterms:created>
  <dcterms:modified xsi:type="dcterms:W3CDTF">2025-08-18T20:55:04Z</dcterms:modified>
</cp:coreProperties>
</file>