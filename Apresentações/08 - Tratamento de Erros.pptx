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6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7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</p:sldMasterIdLst>
  <p:notesMasterIdLst>
    <p:notesMasterId r:id="rId18"/>
  </p:notesMasterIdLst>
  <p:handoutMasterIdLst>
    <p:handoutMasterId r:id="rId19"/>
  </p:handoutMasterIdLst>
  <p:sldIdLst>
    <p:sldId id="380" r:id="rId9"/>
    <p:sldId id="256" r:id="rId10"/>
    <p:sldId id="257" r:id="rId11"/>
    <p:sldId id="261" r:id="rId12"/>
    <p:sldId id="258" r:id="rId13"/>
    <p:sldId id="259" r:id="rId14"/>
    <p:sldId id="260" r:id="rId15"/>
    <p:sldId id="3098" r:id="rId16"/>
    <p:sldId id="3097" r:id="rId17"/>
  </p:sldIdLst>
  <p:sldSz cx="9144000" cy="5143500" type="screen16x9"/>
  <p:notesSz cx="10234613" cy="7104063"/>
  <p:embeddedFontLs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94269" autoAdjust="0"/>
  </p:normalViewPr>
  <p:slideViewPr>
    <p:cSldViewPr snapToGrid="0">
      <p:cViewPr varScale="1">
        <p:scale>
          <a:sx n="87" d="100"/>
          <a:sy n="87" d="100"/>
        </p:scale>
        <p:origin x="56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0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710" y="0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6748145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710" y="6748145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47950" y="596900"/>
            <a:ext cx="5299075" cy="2981325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95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55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4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3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8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3022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266" name="AutoShape 4"/>
          <p:cNvSpPr>
            <a:spLocks noChangeArrowheads="1"/>
          </p:cNvSpPr>
          <p:nvPr/>
        </p:nvSpPr>
        <p:spPr bwMode="auto">
          <a:xfrm>
            <a:off x="530258" y="3376747"/>
            <a:ext cx="8074057" cy="905452"/>
          </a:xfrm>
          <a:prstGeom prst="roundRect">
            <a:avLst>
              <a:gd name="adj" fmla="val 50000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pt-BR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Tratamento</a:t>
            </a:r>
            <a:r>
              <a:rPr lang="en-US" altLang="pt-BR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altLang="pt-BR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Erros</a:t>
            </a:r>
            <a:endParaRPr lang="en-US" altLang="pt-BR" sz="3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m 5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3A980074-1406-4228-BB3B-661B0F63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11" y="561053"/>
            <a:ext cx="8176104" cy="188050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255" y="274639"/>
            <a:ext cx="5458257" cy="411161"/>
          </a:xfrm>
        </p:spPr>
        <p:txBody>
          <a:bodyPr/>
          <a:lstStyle/>
          <a:p>
            <a:r>
              <a:rPr sz="2700" dirty="0"/>
              <a:t>Por que </a:t>
            </a:r>
            <a:r>
              <a:rPr sz="2700" dirty="0" err="1"/>
              <a:t>tratar</a:t>
            </a:r>
            <a:r>
              <a:rPr sz="2700" dirty="0"/>
              <a:t> </a:t>
            </a:r>
            <a:r>
              <a:rPr sz="2700" dirty="0" err="1"/>
              <a:t>erros</a:t>
            </a:r>
            <a:r>
              <a:rPr sz="2700" dirty="0"/>
              <a:t> </a:t>
            </a:r>
            <a:r>
              <a:rPr sz="2700" dirty="0" err="1"/>
              <a:t>em</a:t>
            </a:r>
            <a:r>
              <a:rPr sz="2700" dirty="0"/>
              <a:t>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287" y="739632"/>
            <a:ext cx="5776913" cy="3262312"/>
          </a:xfrm>
        </p:spPr>
        <p:txBody>
          <a:bodyPr/>
          <a:lstStyle/>
          <a:p>
            <a:endParaRPr dirty="0"/>
          </a:p>
          <a:p>
            <a:pPr marL="0" indent="0" algn="just">
              <a:buNone/>
              <a:defRPr sz="2000"/>
            </a:pPr>
            <a:r>
              <a:rPr sz="2400" dirty="0" err="1"/>
              <a:t>Objetivo</a:t>
            </a:r>
            <a:r>
              <a:rPr sz="2400" dirty="0"/>
              <a:t>:</a:t>
            </a:r>
            <a:endParaRPr lang="pt-BR" sz="2400" dirty="0"/>
          </a:p>
          <a:p>
            <a:pPr algn="just">
              <a:defRPr sz="2000"/>
            </a:pPr>
            <a:r>
              <a:rPr lang="pt-BR" sz="2400" dirty="0"/>
              <a:t>Evitar que o programa quebre ao encontrar problemas inesperados.</a:t>
            </a:r>
          </a:p>
          <a:p>
            <a:pPr algn="just">
              <a:defRPr sz="2000"/>
            </a:pPr>
            <a:r>
              <a:rPr sz="2400" dirty="0" err="1"/>
              <a:t>Fornecer</a:t>
            </a:r>
            <a:r>
              <a:rPr sz="2400" dirty="0"/>
              <a:t> </a:t>
            </a:r>
            <a:r>
              <a:rPr sz="2400" dirty="0" err="1"/>
              <a:t>mensagens</a:t>
            </a:r>
            <a:r>
              <a:rPr sz="2400" dirty="0"/>
              <a:t> </a:t>
            </a:r>
            <a:r>
              <a:rPr sz="2400" dirty="0" err="1"/>
              <a:t>mais</a:t>
            </a:r>
            <a:r>
              <a:rPr sz="2400" dirty="0"/>
              <a:t> </a:t>
            </a:r>
            <a:r>
              <a:rPr sz="2400" dirty="0" err="1"/>
              <a:t>amigáveis</a:t>
            </a:r>
            <a:r>
              <a:rPr sz="2400" dirty="0"/>
              <a:t> </a:t>
            </a:r>
            <a:r>
              <a:rPr sz="2400" dirty="0" err="1"/>
              <a:t>ao</a:t>
            </a:r>
            <a:r>
              <a:rPr sz="2400" dirty="0"/>
              <a:t> </a:t>
            </a:r>
            <a:r>
              <a:rPr sz="2400" dirty="0" err="1"/>
              <a:t>usuário</a:t>
            </a:r>
            <a:r>
              <a:rPr sz="2400" dirty="0"/>
              <a:t>.</a:t>
            </a:r>
          </a:p>
          <a:p>
            <a:pPr algn="just">
              <a:defRPr sz="2000"/>
            </a:pPr>
            <a:r>
              <a:rPr sz="2400" dirty="0" err="1"/>
              <a:t>Controlar</a:t>
            </a:r>
            <a:r>
              <a:rPr sz="2400" dirty="0"/>
              <a:t> o </a:t>
            </a:r>
            <a:r>
              <a:rPr sz="2400" dirty="0" err="1"/>
              <a:t>fluxo</a:t>
            </a:r>
            <a:r>
              <a:rPr sz="2400" dirty="0"/>
              <a:t> de </a:t>
            </a:r>
            <a:r>
              <a:rPr sz="2400" dirty="0" err="1"/>
              <a:t>execução</a:t>
            </a:r>
            <a:r>
              <a:rPr sz="2400" dirty="0"/>
              <a:t> </a:t>
            </a:r>
            <a:r>
              <a:rPr sz="2400" dirty="0" err="1"/>
              <a:t>quando</a:t>
            </a:r>
            <a:r>
              <a:rPr sz="2400" dirty="0"/>
              <a:t> algo </a:t>
            </a:r>
            <a:r>
              <a:rPr sz="2400" dirty="0" err="1"/>
              <a:t>dá</a:t>
            </a:r>
            <a:r>
              <a:rPr sz="2400" dirty="0"/>
              <a:t> </a:t>
            </a:r>
            <a:r>
              <a:rPr sz="2400" dirty="0" err="1"/>
              <a:t>errado</a:t>
            </a:r>
            <a:r>
              <a:rPr sz="2400" dirty="0"/>
              <a:t>.</a:t>
            </a:r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373" y="99073"/>
            <a:ext cx="7670444" cy="617817"/>
          </a:xfrm>
        </p:spPr>
        <p:txBody>
          <a:bodyPr/>
          <a:lstStyle/>
          <a:p>
            <a:r>
              <a:rPr dirty="0" err="1"/>
              <a:t>Usando</a:t>
            </a:r>
            <a:r>
              <a:rPr dirty="0"/>
              <a:t> try e except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607" y="628795"/>
            <a:ext cx="7630210" cy="4081751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  <a:defRPr sz="2000"/>
            </a:pPr>
            <a:r>
              <a:rPr sz="3600" dirty="0" err="1"/>
              <a:t>Estrutura</a:t>
            </a:r>
            <a:r>
              <a:rPr sz="3600" dirty="0"/>
              <a:t> </a:t>
            </a:r>
            <a:r>
              <a:rPr sz="3600" dirty="0" err="1"/>
              <a:t>básica</a:t>
            </a:r>
            <a:r>
              <a:rPr sz="3600" dirty="0"/>
              <a:t>:</a:t>
            </a:r>
          </a:p>
          <a:p>
            <a:pPr marL="0" indent="0">
              <a:buNone/>
              <a:defRPr sz="2000"/>
            </a:pPr>
            <a:r>
              <a:rPr sz="3000" dirty="0"/>
              <a:t>try:</a:t>
            </a:r>
          </a:p>
          <a:p>
            <a:pPr marL="0" indent="0">
              <a:buNone/>
              <a:defRPr sz="2000"/>
            </a:pPr>
            <a:r>
              <a:rPr sz="3000" dirty="0"/>
              <a:t>    # Código que </a:t>
            </a:r>
            <a:r>
              <a:rPr sz="3000" dirty="0" err="1"/>
              <a:t>pode</a:t>
            </a:r>
            <a:r>
              <a:rPr sz="3000" dirty="0"/>
              <a:t> </a:t>
            </a:r>
            <a:r>
              <a:rPr sz="3000" dirty="0" err="1"/>
              <a:t>causar</a:t>
            </a:r>
            <a:r>
              <a:rPr sz="3000" dirty="0"/>
              <a:t> </a:t>
            </a:r>
            <a:r>
              <a:rPr sz="3000" dirty="0" err="1"/>
              <a:t>erro</a:t>
            </a:r>
            <a:endParaRPr sz="3000" dirty="0"/>
          </a:p>
          <a:p>
            <a:pPr marL="0" indent="0">
              <a:buNone/>
              <a:defRPr sz="2000"/>
            </a:pPr>
            <a:r>
              <a:rPr sz="3000" dirty="0"/>
              <a:t>except </a:t>
            </a:r>
            <a:r>
              <a:rPr sz="3000" dirty="0" err="1"/>
              <a:t>TipoDoErro</a:t>
            </a:r>
            <a:r>
              <a:rPr sz="3000" dirty="0"/>
              <a:t>:</a:t>
            </a:r>
          </a:p>
          <a:p>
            <a:pPr marL="0" indent="0">
              <a:buNone/>
              <a:defRPr sz="2000"/>
            </a:pPr>
            <a:r>
              <a:rPr sz="3000" dirty="0"/>
              <a:t>    # O que </a:t>
            </a:r>
            <a:r>
              <a:rPr sz="3000" dirty="0" err="1"/>
              <a:t>fazer</a:t>
            </a:r>
            <a:r>
              <a:rPr sz="3000" dirty="0"/>
              <a:t> se o </a:t>
            </a:r>
            <a:r>
              <a:rPr sz="3000" dirty="0" err="1"/>
              <a:t>erro</a:t>
            </a:r>
            <a:r>
              <a:rPr sz="3000" dirty="0"/>
              <a:t> </a:t>
            </a:r>
            <a:r>
              <a:rPr sz="3000" dirty="0" err="1"/>
              <a:t>acontecer</a:t>
            </a:r>
            <a:endParaRPr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DD3C-C878-4501-E4C0-C6731EA9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02461-B599-5D48-82C5-7533BFD9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921" y="102732"/>
            <a:ext cx="7702906" cy="570268"/>
          </a:xfrm>
        </p:spPr>
        <p:txBody>
          <a:bodyPr/>
          <a:lstStyle/>
          <a:p>
            <a:r>
              <a:rPr dirty="0" err="1"/>
              <a:t>Usando</a:t>
            </a:r>
            <a:r>
              <a:rPr dirty="0"/>
              <a:t> try e except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03759-5E62-C871-BC1D-13754FB1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661" y="628795"/>
            <a:ext cx="7662672" cy="4081751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 marL="0" indent="0">
              <a:buNone/>
              <a:defRPr sz="2000"/>
            </a:pPr>
            <a:r>
              <a:rPr sz="2625" dirty="0" err="1"/>
              <a:t>Estrutura</a:t>
            </a:r>
            <a:r>
              <a:rPr sz="2625" dirty="0"/>
              <a:t> </a:t>
            </a:r>
            <a:r>
              <a:rPr lang="pt-BR" sz="2625" dirty="0"/>
              <a:t>completa</a:t>
            </a:r>
            <a:r>
              <a:rPr sz="3600" dirty="0"/>
              <a:t>:</a:t>
            </a:r>
          </a:p>
          <a:p>
            <a:pPr marL="0" indent="0">
              <a:buNone/>
              <a:defRPr sz="2000"/>
            </a:pPr>
            <a:r>
              <a:rPr sz="2925" dirty="0"/>
              <a:t>try:</a:t>
            </a:r>
          </a:p>
          <a:p>
            <a:pPr marL="0" indent="0">
              <a:buNone/>
              <a:defRPr sz="2000"/>
            </a:pPr>
            <a:r>
              <a:rPr sz="2925" dirty="0"/>
              <a:t>    # Código que </a:t>
            </a:r>
            <a:r>
              <a:rPr sz="2925" dirty="0" err="1"/>
              <a:t>pode</a:t>
            </a:r>
            <a:r>
              <a:rPr sz="2925" dirty="0"/>
              <a:t> </a:t>
            </a:r>
            <a:r>
              <a:rPr sz="2925" dirty="0" err="1"/>
              <a:t>causar</a:t>
            </a:r>
            <a:r>
              <a:rPr sz="2925" dirty="0"/>
              <a:t> </a:t>
            </a:r>
            <a:r>
              <a:rPr sz="2925" dirty="0" err="1"/>
              <a:t>erro</a:t>
            </a:r>
            <a:endParaRPr sz="2925" dirty="0"/>
          </a:p>
          <a:p>
            <a:pPr marL="0" indent="0">
              <a:buNone/>
              <a:defRPr sz="2000"/>
            </a:pPr>
            <a:r>
              <a:rPr sz="2925" dirty="0"/>
              <a:t>except </a:t>
            </a:r>
            <a:r>
              <a:rPr sz="2925" dirty="0" err="1"/>
              <a:t>TipoDoErro</a:t>
            </a:r>
            <a:r>
              <a:rPr sz="2925" dirty="0"/>
              <a:t>:</a:t>
            </a:r>
          </a:p>
          <a:p>
            <a:pPr marL="0" indent="0">
              <a:buNone/>
              <a:defRPr sz="2000"/>
            </a:pPr>
            <a:r>
              <a:rPr sz="2925" dirty="0"/>
              <a:t>    # O que </a:t>
            </a:r>
            <a:r>
              <a:rPr sz="2925" dirty="0" err="1"/>
              <a:t>fazer</a:t>
            </a:r>
            <a:r>
              <a:rPr sz="2925" dirty="0"/>
              <a:t> se o </a:t>
            </a:r>
            <a:r>
              <a:rPr sz="2925" dirty="0" err="1"/>
              <a:t>erro</a:t>
            </a:r>
            <a:r>
              <a:rPr sz="2925" dirty="0"/>
              <a:t> </a:t>
            </a:r>
            <a:r>
              <a:rPr sz="2925" dirty="0" err="1"/>
              <a:t>acontecer</a:t>
            </a:r>
            <a:endParaRPr lang="pt-BR" sz="2925" dirty="0"/>
          </a:p>
          <a:p>
            <a:pPr marL="0" indent="0">
              <a:buNone/>
              <a:defRPr sz="2000"/>
            </a:pPr>
            <a:r>
              <a:rPr lang="pt-BR" sz="2925" dirty="0" err="1"/>
              <a:t>else</a:t>
            </a:r>
            <a:r>
              <a:rPr lang="pt-BR" sz="2925" dirty="0"/>
              <a:t>:</a:t>
            </a:r>
          </a:p>
          <a:p>
            <a:pPr marL="0" indent="0">
              <a:buNone/>
              <a:defRPr sz="2000"/>
            </a:pPr>
            <a:r>
              <a:rPr lang="pt-BR" sz="2925" dirty="0"/>
              <a:t>     # O que fazer se der certo</a:t>
            </a:r>
          </a:p>
          <a:p>
            <a:pPr marL="0" indent="0">
              <a:buNone/>
              <a:defRPr sz="2000"/>
            </a:pPr>
            <a:r>
              <a:rPr lang="pt-BR" sz="2925" dirty="0" err="1"/>
              <a:t>finaly</a:t>
            </a:r>
            <a:r>
              <a:rPr lang="pt-BR" sz="2925" dirty="0"/>
              <a:t>:</a:t>
            </a:r>
          </a:p>
          <a:p>
            <a:pPr marL="0" indent="0">
              <a:buNone/>
              <a:defRPr sz="2000"/>
            </a:pPr>
            <a:r>
              <a:rPr lang="pt-BR" sz="2925" dirty="0"/>
              <a:t>    # Será executado dando erro ou não</a:t>
            </a:r>
            <a:endParaRPr sz="2925" dirty="0"/>
          </a:p>
        </p:txBody>
      </p:sp>
    </p:spTree>
    <p:extLst>
      <p:ext uri="{BB962C8B-B14F-4D97-AF65-F5344CB8AC3E}">
        <p14:creationId xmlns:p14="http://schemas.microsoft.com/office/powerpoint/2010/main" val="250961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688" y="128334"/>
            <a:ext cx="7717536" cy="595871"/>
          </a:xfrm>
        </p:spPr>
        <p:txBody>
          <a:bodyPr/>
          <a:lstStyle/>
          <a:p>
            <a:r>
              <a:rPr dirty="0" err="1"/>
              <a:t>Usando</a:t>
            </a:r>
            <a:r>
              <a:rPr dirty="0"/>
              <a:t> else e 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732" y="724205"/>
            <a:ext cx="7560258" cy="3262312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sz="3000" dirty="0"/>
              <a:t>else: </a:t>
            </a:r>
            <a:r>
              <a:rPr sz="3000" dirty="0" err="1"/>
              <a:t>executado</a:t>
            </a:r>
            <a:r>
              <a:rPr sz="3000" dirty="0"/>
              <a:t> </a:t>
            </a:r>
            <a:r>
              <a:rPr sz="3000" dirty="0" err="1"/>
              <a:t>somente</a:t>
            </a:r>
            <a:r>
              <a:rPr sz="3000" dirty="0"/>
              <a:t> se </a:t>
            </a:r>
            <a:r>
              <a:rPr sz="3000" dirty="0" err="1"/>
              <a:t>não</a:t>
            </a:r>
            <a:r>
              <a:rPr sz="3000" dirty="0"/>
              <a:t> </a:t>
            </a:r>
            <a:r>
              <a:rPr sz="3000" dirty="0" err="1"/>
              <a:t>ocorrer</a:t>
            </a:r>
            <a:r>
              <a:rPr sz="3000" dirty="0"/>
              <a:t> </a:t>
            </a:r>
            <a:r>
              <a:rPr sz="3000" dirty="0" err="1"/>
              <a:t>erro</a:t>
            </a:r>
            <a:r>
              <a:rPr sz="3000" dirty="0"/>
              <a:t>.</a:t>
            </a:r>
          </a:p>
          <a:p>
            <a:pPr>
              <a:defRPr sz="2000"/>
            </a:pPr>
            <a:endParaRPr lang="pt-BR" sz="3000" dirty="0"/>
          </a:p>
          <a:p>
            <a:pPr>
              <a:defRPr sz="2000"/>
            </a:pPr>
            <a:r>
              <a:rPr sz="3000" dirty="0"/>
              <a:t>finally: </a:t>
            </a:r>
            <a:r>
              <a:rPr sz="3000" dirty="0" err="1"/>
              <a:t>executado</a:t>
            </a:r>
            <a:r>
              <a:rPr sz="3000" dirty="0"/>
              <a:t> sempre, </a:t>
            </a:r>
            <a:r>
              <a:rPr sz="3000" dirty="0" err="1"/>
              <a:t>ocorra</a:t>
            </a:r>
            <a:r>
              <a:rPr sz="3000" dirty="0"/>
              <a:t> </a:t>
            </a:r>
            <a:r>
              <a:rPr sz="3000" dirty="0" err="1"/>
              <a:t>erro</a:t>
            </a:r>
            <a:r>
              <a:rPr sz="3000" dirty="0"/>
              <a:t> </a:t>
            </a:r>
            <a:r>
              <a:rPr sz="3000" dirty="0" err="1"/>
              <a:t>ou</a:t>
            </a:r>
            <a:r>
              <a:rPr sz="3000" dirty="0"/>
              <a:t> </a:t>
            </a:r>
            <a:r>
              <a:rPr sz="3000" dirty="0" err="1"/>
              <a:t>não</a:t>
            </a:r>
            <a:r>
              <a:rPr sz="3000" dirty="0"/>
              <a:t>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972" y="92167"/>
            <a:ext cx="7597292" cy="654392"/>
          </a:xfrm>
        </p:spPr>
        <p:txBody>
          <a:bodyPr/>
          <a:lstStyle/>
          <a:p>
            <a:r>
              <a:rPr dirty="0" err="1"/>
              <a:t>Criando</a:t>
            </a:r>
            <a:r>
              <a:rPr dirty="0"/>
              <a:t> </a:t>
            </a:r>
            <a:r>
              <a:rPr dirty="0" err="1"/>
              <a:t>erros</a:t>
            </a:r>
            <a:r>
              <a:rPr dirty="0"/>
              <a:t> com 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210" y="746559"/>
            <a:ext cx="7597292" cy="3262312"/>
          </a:xfrm>
        </p:spPr>
        <p:txBody>
          <a:bodyPr>
            <a:normAutofit/>
          </a:bodyPr>
          <a:lstStyle/>
          <a:p>
            <a:endParaRPr dirty="0"/>
          </a:p>
          <a:p>
            <a:pPr algn="just">
              <a:defRPr sz="2000"/>
            </a:pPr>
            <a:r>
              <a:rPr sz="2700" dirty="0"/>
              <a:t>Para </a:t>
            </a:r>
            <a:r>
              <a:rPr sz="2700" dirty="0" err="1"/>
              <a:t>lançar</a:t>
            </a:r>
            <a:r>
              <a:rPr sz="2700" dirty="0"/>
              <a:t> um </a:t>
            </a:r>
            <a:r>
              <a:rPr sz="2700" dirty="0" err="1"/>
              <a:t>erro</a:t>
            </a:r>
            <a:r>
              <a:rPr sz="2700" dirty="0"/>
              <a:t> </a:t>
            </a:r>
            <a:r>
              <a:rPr sz="2700" dirty="0" err="1"/>
              <a:t>propositalmente</a:t>
            </a:r>
            <a:r>
              <a:rPr sz="2700" dirty="0"/>
              <a:t>.</a:t>
            </a:r>
            <a:endParaRPr lang="pt-BR" sz="2700" dirty="0"/>
          </a:p>
          <a:p>
            <a:pPr algn="just">
              <a:defRPr sz="2000"/>
            </a:pPr>
            <a:endParaRPr sz="2700" dirty="0"/>
          </a:p>
          <a:p>
            <a:pPr algn="just">
              <a:defRPr sz="2000"/>
            </a:pPr>
            <a:r>
              <a:rPr sz="2700" dirty="0" err="1"/>
              <a:t>Útil</a:t>
            </a:r>
            <a:r>
              <a:rPr sz="2700" dirty="0"/>
              <a:t> </a:t>
            </a:r>
            <a:r>
              <a:rPr sz="2700" dirty="0" err="1"/>
              <a:t>na</a:t>
            </a:r>
            <a:r>
              <a:rPr sz="2700" dirty="0"/>
              <a:t> </a:t>
            </a:r>
            <a:r>
              <a:rPr sz="2700" dirty="0" err="1"/>
              <a:t>validação</a:t>
            </a:r>
            <a:r>
              <a:rPr sz="2700" dirty="0"/>
              <a:t> de dados </a:t>
            </a:r>
            <a:r>
              <a:rPr sz="2700" dirty="0" err="1"/>
              <a:t>ou</a:t>
            </a:r>
            <a:r>
              <a:rPr sz="2700" dirty="0"/>
              <a:t> </a:t>
            </a:r>
            <a:r>
              <a:rPr sz="2700" dirty="0" err="1"/>
              <a:t>regras</a:t>
            </a:r>
            <a:r>
              <a:rPr sz="2700" dirty="0"/>
              <a:t> de </a:t>
            </a:r>
            <a:r>
              <a:rPr sz="2700" dirty="0" err="1"/>
              <a:t>negócio</a:t>
            </a:r>
            <a:r>
              <a:rPr sz="2700" dirty="0"/>
              <a:t>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388" y="80785"/>
            <a:ext cx="7538771" cy="650735"/>
          </a:xfrm>
        </p:spPr>
        <p:txBody>
          <a:bodyPr/>
          <a:lstStyle/>
          <a:p>
            <a:r>
              <a:rPr lang="pt-BR" dirty="0"/>
              <a:t>Principais tipo de erro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715" y="808904"/>
            <a:ext cx="7765085" cy="3880860"/>
          </a:xfrm>
        </p:spPr>
        <p:txBody>
          <a:bodyPr/>
          <a:lstStyle/>
          <a:p>
            <a:r>
              <a:rPr lang="pt-BR" dirty="0" err="1"/>
              <a:t>Exception</a:t>
            </a:r>
            <a:r>
              <a:rPr lang="pt-BR" dirty="0"/>
              <a:t> – Erro genérico</a:t>
            </a:r>
          </a:p>
          <a:p>
            <a:r>
              <a:rPr lang="pt-BR" dirty="0" err="1"/>
              <a:t>ValueError</a:t>
            </a:r>
            <a:r>
              <a:rPr lang="pt-BR" dirty="0"/>
              <a:t> – Erro de valor</a:t>
            </a:r>
          </a:p>
          <a:p>
            <a:r>
              <a:rPr lang="pt-BR" dirty="0" err="1"/>
              <a:t>TypeError</a:t>
            </a:r>
            <a:r>
              <a:rPr lang="pt-BR" dirty="0"/>
              <a:t> – Erro de tipo de dado</a:t>
            </a:r>
          </a:p>
          <a:p>
            <a:r>
              <a:rPr lang="pt-BR" dirty="0" err="1"/>
              <a:t>KeyError</a:t>
            </a:r>
            <a:r>
              <a:rPr lang="pt-BR" dirty="0"/>
              <a:t> – Chave não existente no dicionário</a:t>
            </a:r>
          </a:p>
          <a:p>
            <a:r>
              <a:rPr lang="pt-BR" dirty="0" err="1"/>
              <a:t>IndexError</a:t>
            </a:r>
            <a:r>
              <a:rPr lang="pt-BR" dirty="0"/>
              <a:t> – Índice fora do intervalo</a:t>
            </a:r>
          </a:p>
          <a:p>
            <a:r>
              <a:rPr lang="pt-BR" dirty="0" err="1"/>
              <a:t>IOError</a:t>
            </a:r>
            <a:r>
              <a:rPr lang="pt-BR" dirty="0"/>
              <a:t> – Erro de manipulação de arquivo</a:t>
            </a:r>
          </a:p>
          <a:p>
            <a:r>
              <a:rPr lang="pt-BR" dirty="0" err="1"/>
              <a:t>FileNotFoundError</a:t>
            </a:r>
            <a:r>
              <a:rPr lang="pt-BR" dirty="0"/>
              <a:t> – Arquivo não encontrado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8FAC-9608-730D-4D92-7FCCDA4B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6FE8-0189-150D-8F68-5173C7D5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388" y="80785"/>
            <a:ext cx="7538771" cy="650735"/>
          </a:xfrm>
        </p:spPr>
        <p:txBody>
          <a:bodyPr/>
          <a:lstStyle/>
          <a:p>
            <a:r>
              <a:rPr lang="pt-BR" dirty="0"/>
              <a:t>Principais tipo de erro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3401-AE24-8FCE-50ED-CB6DE9070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715" y="808904"/>
            <a:ext cx="7765085" cy="3880860"/>
          </a:xfrm>
        </p:spPr>
        <p:txBody>
          <a:bodyPr/>
          <a:lstStyle/>
          <a:p>
            <a:r>
              <a:rPr lang="pt-BR" dirty="0" err="1"/>
              <a:t>ZeroDivisionError</a:t>
            </a:r>
            <a:r>
              <a:rPr lang="pt-BR" dirty="0"/>
              <a:t> – Divisão por zero</a:t>
            </a:r>
          </a:p>
          <a:p>
            <a:r>
              <a:rPr lang="pt-BR" dirty="0" err="1"/>
              <a:t>MeuErroPersonalizado</a:t>
            </a:r>
            <a:r>
              <a:rPr lang="pt-BR" dirty="0"/>
              <a:t> – Podemos criar nossos próprios erros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78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969264" y="689804"/>
            <a:ext cx="7710221" cy="41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3400" indent="-354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800" b="1" dirty="0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Ex32 – </a:t>
            </a:r>
            <a:r>
              <a:rPr lang="pt-BR" altLang="pt-BR" sz="1800" dirty="0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Fazer um programa que receba um número inteiro de 4 dígitos separe-o em 2 números de 2 dígitos e verifique se o quadrado da suma deste 2 números é igual ao número informado.</a:t>
            </a:r>
          </a:p>
          <a:p>
            <a:pPr algn="just" eaLnBrk="1" hangingPunct="1"/>
            <a:endParaRPr lang="pt-BR" altLang="pt-BR" sz="1800" dirty="0">
              <a:solidFill>
                <a:prstClr val="black"/>
              </a:solidFill>
              <a:ea typeface="Arial Unicode MS" pitchFamily="34" charset="-128"/>
              <a:cs typeface="Arial" panose="020B0604020202020204" pitchFamily="34" charset="0"/>
            </a:endParaRPr>
          </a:p>
          <a:p>
            <a:pPr algn="just"/>
            <a:r>
              <a:rPr lang="pt-BR" altLang="pt-BR" sz="1800" b="1" dirty="0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Ex33 – </a:t>
            </a:r>
            <a:r>
              <a:rPr lang="pt-BR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Tendo como dados de entrada a altura e o sexo de uma pessoa, construa um algoritmo que calcule seu peso ideal, utilizando as seguintes fórmulas: </a:t>
            </a:r>
          </a:p>
          <a:p>
            <a:pPr algn="just"/>
            <a:r>
              <a:rPr lang="pt-BR" sz="1800" dirty="0">
                <a:solidFill>
                  <a:srgbClr val="000000"/>
                </a:solidFill>
                <a:ea typeface="Verdana" panose="020B0604030504040204" pitchFamily="34" charset="0"/>
                <a:cs typeface="Arial" panose="020B0604020202020204" pitchFamily="34" charset="0"/>
              </a:rPr>
              <a:t>para homens: (72.7 * h) – 58; </a:t>
            </a:r>
          </a:p>
          <a:p>
            <a:pPr algn="just"/>
            <a:r>
              <a:rPr lang="pt-BR" sz="1800" dirty="0">
                <a:solidFill>
                  <a:srgbClr val="000000"/>
                </a:solidFill>
                <a:ea typeface="Verdana" panose="020B0604030504040204" pitchFamily="34" charset="0"/>
                <a:cs typeface="Arial" panose="020B0604020202020204" pitchFamily="34" charset="0"/>
              </a:rPr>
              <a:t>para mulheres: (62.1 * h) – 44.7. </a:t>
            </a:r>
          </a:p>
          <a:p>
            <a:pPr algn="just"/>
            <a:endParaRPr lang="pt-BR" altLang="pt-BR" sz="1800" dirty="0">
              <a:solidFill>
                <a:prstClr val="black"/>
              </a:solidFill>
              <a:ea typeface="Arial Unicode MS" pitchFamily="34" charset="-128"/>
              <a:cs typeface="Arial" panose="020B0604020202020204" pitchFamily="34" charset="0"/>
            </a:endParaRPr>
          </a:p>
          <a:p>
            <a:pPr algn="just"/>
            <a:r>
              <a:rPr lang="pt-BR" altLang="pt-BR" sz="1800" b="1" dirty="0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Ex34 – </a:t>
            </a:r>
            <a:r>
              <a:rPr lang="pt-BR" altLang="pt-BR" sz="1800" dirty="0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Fazer um programa que receba o sexo e a idade de um grupo de pessoas o recebimento encerra-se quando digitar o sexo sem informação, ao final </a:t>
            </a:r>
            <a:r>
              <a:rPr lang="pt-BR" altLang="pt-BR" sz="1800" dirty="0" err="1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mostar</a:t>
            </a:r>
            <a:r>
              <a:rPr lang="pt-BR" altLang="pt-BR" sz="1800" dirty="0">
                <a:solidFill>
                  <a:prstClr val="black"/>
                </a:solidFill>
                <a:ea typeface="Arial Unicode MS" pitchFamily="34" charset="-128"/>
                <a:cs typeface="Arial" panose="020B0604020202020204" pitchFamily="34" charset="0"/>
              </a:rPr>
              <a:t> a média de idade e o percentual de pessoas de cada sexo.</a:t>
            </a:r>
          </a:p>
          <a:p>
            <a:pPr algn="just" eaLnBrk="1" hangingPunct="1"/>
            <a:endParaRPr lang="pt-BR" altLang="pt-BR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CBEA-5CF8-4C23-B8A1-32F9BD8AA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362" y="175117"/>
            <a:ext cx="7545627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025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025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98456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8016</TotalTime>
  <Words>351</Words>
  <Application>Microsoft Office PowerPoint</Application>
  <PresentationFormat>Apresentação na tela (16:9)</PresentationFormat>
  <Paragraphs>54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9</vt:i4>
      </vt:variant>
    </vt:vector>
  </HeadingPairs>
  <TitlesOfParts>
    <vt:vector size="21" baseType="lpstr">
      <vt:lpstr>Arial</vt:lpstr>
      <vt:lpstr>Arial Unicode MS</vt:lpstr>
      <vt:lpstr>Calibri</vt:lpstr>
      <vt:lpstr>Verdana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Apresentação do PowerPoint</vt:lpstr>
      <vt:lpstr>Por que tratar erros em Python?</vt:lpstr>
      <vt:lpstr>Usando try e except</vt:lpstr>
      <vt:lpstr>Usando try e except</vt:lpstr>
      <vt:lpstr>Usando else e finally</vt:lpstr>
      <vt:lpstr>Criando erros com raise</vt:lpstr>
      <vt:lpstr>Principais tipo de erro</vt:lpstr>
      <vt:lpstr>Principais tipo de erro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11</cp:revision>
  <cp:lastPrinted>2023-04-24T16:47:04Z</cp:lastPrinted>
  <dcterms:created xsi:type="dcterms:W3CDTF">2020-01-19T22:21:58Z</dcterms:created>
  <dcterms:modified xsi:type="dcterms:W3CDTF">2025-05-02T21:33:10Z</dcterms:modified>
</cp:coreProperties>
</file>